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Orbitron"/>
              </a:defRPr>
            </a:pPr>
            <a:r>
              <a:t>NEXUS SELF-EVOLUTION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Space Grotesk"/>
              </a:defRPr>
            </a:pPr>
            <a:r>
              <a:t>Multi-Agent AI Orchestration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1D5DB"/>
                </a:solidFill>
                <a:latin typeface="Space Grotesk"/>
              </a:defRPr>
            </a:pPr>
            <a:r>
              <a:t>A gamified self-mastery dashboard that orchestrates specialized AI agents</a:t>
            </a:r>
            <a:br/>
            <a:r>
              <a:t>(SAGE, TITAN, CHRONOS, MANAGER) to accelerate personal evolution</a:t>
            </a:r>
            <a:br/>
            <a:r>
              <a:t>through adaptive quests, real-time stat tracking, and neural-linked coaching.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200400"/>
            <a:ext cx="4572000" cy="25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Orbitron"/>
              </a:defRPr>
            </a:pPr>
            <a: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822960"/>
            <a:ext cx="3657600" cy="548640"/>
          </a:xfrm>
          <a:prstGeom prst="roundRect">
            <a:avLst/>
          </a:prstGeom>
          <a:solidFill>
            <a:srgbClr val="05503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JetBrains Mono"/>
              </a:rPr>
              <a:t>REACT FRONTEND (Vite + Tailwind v4)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645920"/>
            <a:ext cx="5486400" cy="457200"/>
          </a:xfrm>
          <a:prstGeom prst="roundRect">
            <a:avLst/>
          </a:prstGeom>
          <a:solidFill>
            <a:srgbClr val="1428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B82F6"/>
                </a:solidFill>
                <a:latin typeface="JetBrains Mono"/>
              </a:rPr>
              <a:t>GameContext.tsx  (Central State - localStorage persistence)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4572000" cy="457200"/>
          </a:xfrm>
          <a:prstGeom prst="roundRect">
            <a:avLst/>
          </a:prstGeom>
          <a:solidFill>
            <a:srgbClr val="2814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5CF6"/>
                </a:solidFill>
                <a:latin typeface="JetBrains Mono"/>
              </a:rPr>
              <a:t>Pipeline A: Direct Agent API
agentService.ts → openaiAgentService.ts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468880"/>
            <a:ext cx="5029200" cy="457200"/>
          </a:xfrm>
          <a:prstGeom prst="roundRect">
            <a:avLst/>
          </a:prstGeom>
          <a:solidFill>
            <a:srgbClr val="2814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5CF6"/>
                </a:solidFill>
                <a:latin typeface="JetBrains Mono"/>
              </a:rPr>
              <a:t>Pipeline B: Smart Trainer Router
trainerService.ts → routeToAgent()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2743200" cy="457200"/>
          </a:xfrm>
          <a:prstGeom prst="roundRect">
            <a:avLst/>
          </a:prstGeom>
          <a:solidFill>
            <a:srgbClr val="0532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B82F6"/>
                </a:solidFill>
                <a:latin typeface="JetBrains Mono"/>
              </a:rPr>
              <a:t>SAGE  (Cognitive)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291840"/>
            <a:ext cx="2743200" cy="457200"/>
          </a:xfrm>
          <a:prstGeom prst="roundRect">
            <a:avLst/>
          </a:prstGeom>
          <a:solidFill>
            <a:srgbClr val="320F0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F4444"/>
                </a:solidFill>
                <a:latin typeface="JetBrains Mono"/>
              </a:rPr>
              <a:t>TITAN  (Physical)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291840"/>
            <a:ext cx="2743200" cy="457200"/>
          </a:xfrm>
          <a:prstGeom prst="roundRect">
            <a:avLst/>
          </a:prstGeom>
          <a:solidFill>
            <a:srgbClr val="32280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AB308"/>
                </a:solidFill>
                <a:latin typeface="JetBrains Mono"/>
              </a:rPr>
              <a:t>CHRONOS  (Temporal)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3291840"/>
            <a:ext cx="2286000" cy="457200"/>
          </a:xfrm>
          <a:prstGeom prst="roundRect">
            <a:avLst/>
          </a:prstGeom>
          <a:solidFill>
            <a:srgbClr val="0537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MANAGER  (Orchestrator)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114800"/>
            <a:ext cx="4572000" cy="457200"/>
          </a:xfrm>
          <a:prstGeom prst="roundRect">
            <a:avLst/>
          </a:prstGeom>
          <a:solidFill>
            <a:srgbClr val="1E14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CA3AF"/>
                </a:solidFill>
                <a:latin typeface="JetBrains Mono"/>
              </a:rPr>
              <a:t>NVIDIA Nemotron LLM (via OpenAI SDK)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937760"/>
            <a:ext cx="1371600" cy="3657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1D5DB"/>
                </a:solidFill>
                <a:latin typeface="JetBrains Mono"/>
              </a:rPr>
              <a:t>InitialAssessment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4937760"/>
            <a:ext cx="1371600" cy="3657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1D5DB"/>
                </a:solidFill>
                <a:latin typeface="JetBrains Mono"/>
              </a:rPr>
              <a:t>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4937760"/>
            <a:ext cx="1371600" cy="3657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1D5DB"/>
                </a:solidFill>
                <a:latin typeface="JetBrains Mono"/>
              </a:rPr>
              <a:t>QuestBoard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4937760"/>
            <a:ext cx="1371600" cy="3657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1D5DB"/>
                </a:solidFill>
                <a:latin typeface="JetBrains Mono"/>
              </a:rPr>
              <a:t>TrainingHub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937760"/>
            <a:ext cx="1371600" cy="3657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1D5DB"/>
                </a:solidFill>
                <a:latin typeface="JetBrains Mono"/>
              </a:rPr>
              <a:t>PersonalizedTrainer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4937760"/>
            <a:ext cx="1371600" cy="3657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1D5DB"/>
                </a:solidFill>
                <a:latin typeface="JetBrains Mono"/>
              </a:rPr>
              <a:t>AppControlPanel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4937760"/>
            <a:ext cx="1371600" cy="365760"/>
          </a:xfrm>
          <a:prstGeom prst="roundRect">
            <a:avLst/>
          </a:prstGeom>
          <a:solidFill>
            <a:srgbClr val="141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1D5DB"/>
                </a:solidFill>
                <a:latin typeface="JetBrains Mono"/>
              </a:rPr>
              <a:t>AgentDashboard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5669280"/>
            <a:ext cx="4572000" cy="457200"/>
          </a:xfrm>
          <a:prstGeom prst="roundRect">
            <a:avLst/>
          </a:prstGeom>
          <a:solidFill>
            <a:srgbClr val="0F1E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localStorage  (Zero Backend - Fully Client-Side)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Orbitron"/>
              </a:defRPr>
            </a:pPr>
            <a:r>
              <a:t>DATA FLOW &amp; ALGORITHM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645920" cy="1097280"/>
          </a:xfrm>
          <a:prstGeom prst="roundRect">
            <a:avLst/>
          </a:prstGeom>
          <a:solidFill>
            <a:srgbClr val="05503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JetBrains Mono"/>
              </a:rPr>
              <a:t>1. User Action
Click / Type / Voice
in React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914400"/>
            <a:ext cx="1645920" cy="1097280"/>
          </a:xfrm>
          <a:prstGeom prst="roundRect">
            <a:avLst/>
          </a:prstGeom>
          <a:solidFill>
            <a:srgbClr val="1428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JetBrains Mono"/>
              </a:rPr>
              <a:t>2. GameContext
State update →
localStorage 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914400"/>
            <a:ext cx="1645920" cy="1097280"/>
          </a:xfrm>
          <a:prstGeom prst="roundRect">
            <a:avLst/>
          </a:prstGeom>
          <a:solidFill>
            <a:srgbClr val="05503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JetBrains Mono"/>
              </a:rPr>
              <a:t>3. Route Decision
trainerService.routeToAgent()
keyword-matches primary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914400"/>
            <a:ext cx="1645920" cy="1097280"/>
          </a:xfrm>
          <a:prstGeom prst="roundRect">
            <a:avLst/>
          </a:prstGeom>
          <a:solidFill>
            <a:srgbClr val="1428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JetBrains Mono"/>
              </a:rPr>
              <a:t>4. Agent Execution
SAGE | TITAN | CHRONOS | MANAGER
builds system prompt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914400"/>
            <a:ext cx="1645920" cy="1097280"/>
          </a:xfrm>
          <a:prstGeom prst="roundRect">
            <a:avLst/>
          </a:prstGeom>
          <a:solidFill>
            <a:srgbClr val="05503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JetBrains Mono"/>
              </a:rPr>
              <a:t>5. LLM Inference
NVIDIA Nemotron
stream/non-stream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07040" y="914400"/>
            <a:ext cx="1645920" cy="1097280"/>
          </a:xfrm>
          <a:prstGeom prst="roundRect">
            <a:avLst/>
          </a:prstGeom>
          <a:solidFill>
            <a:srgbClr val="14283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JetBrains Mono"/>
              </a:rPr>
              <a:t>6. UI Update
Recharts/D3 graphs
Agent Activity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JetBrains Mono"/>
              </a:defRPr>
            </a:pPr>
            <a:r>
              <a:t>┬──────────────────────────────────────────────────────────────────────────────┬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CA3AF"/>
                </a:solidFill>
                <a:latin typeface="JetBrains Mono"/>
              </a:defRPr>
            </a:pPr>
            <a:r>
              <a:t>Initialization → App.tsx checks hasCompletedAssessment in localStorage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├─ False → Render InitialAssessment (3-question calibration gate)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└─ True  → Render Dashboard (tabs: overview, trainer, training, quests, agents, feedback, control, settings)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04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JetBrains Mon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CA3AF"/>
                </a:solidFill>
                <a:latin typeface="JetBrains Mono"/>
              </a:defRPr>
            </a:pPr>
            <a:r>
              <a:t>User interacts with AI features: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1. PersonalizedTrainer: User types message → streamTrainerRequest() → routeToAgent()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→ generates coordinated prompt → streamAgentResponse() → openai.chat.completions.create()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→ chunks stream back via callback → progressive UI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JetBrains Mon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2. Quest Generation: QuestGeneratorAgent builds challenges from stat thresholds + user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→ RewardPenaltyAgent adjusts difficulty based on miss 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JetBrains Mon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457200" y="64007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3. Graph Analysis: User clicks analyze on HexGraph/StatGraph → SAGE/TITAN agent interprets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720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→ analysis overlay with agent's textual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0408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JetBrains Mon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457200" y="7360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4. App Control: Lock distracting apps → visual willpower commitment → localStorage toggle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Orbitron"/>
              </a:defRPr>
            </a:pPr>
            <a:r>
              <a:t>MULTI-AGENT SYSTEM &amp; PROMPT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2743200" cy="1097280"/>
          </a:xfrm>
          <a:prstGeom prst="roundRect">
            <a:avLst/>
          </a:prstGeom>
          <a:solidFill>
            <a:srgbClr val="0A0A0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MANAGER
Supreme Orchestrator &amp; Life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005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Stoic, analytical coach. Designs hyper-personalized plans.</a:t>
            </a:r>
            <a:br/>
            <a:r>
              <a:t>Delegates to specialists. Addresses user as 'Operator'.</a:t>
            </a:r>
            <a:br/>
            <a:r>
              <a:t>Handles: motivation, emotional, multi-domain planning.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743200" cy="1097280"/>
          </a:xfrm>
          <a:prstGeom prst="roundRect">
            <a:avLst/>
          </a:prstGeom>
          <a:solidFill>
            <a:srgbClr val="0A0A0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B82F6"/>
                </a:solidFill>
                <a:latin typeface="JetBrains Mono"/>
              </a:rPr>
              <a:t>SAGE
Intelligence &amp; Cognitive Specialist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Deep focus on neuroplasticity, memory, speed-reading.</a:t>
            </a:r>
            <a:br/>
            <a:r>
              <a:t>Academic tone. Handles: learning strategies, logic,</a:t>
            </a:r>
            <a:br/>
            <a:r>
              <a:t>cognitive enhancement protocols.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2743200" cy="1097280"/>
          </a:xfrm>
          <a:prstGeom prst="roundRect">
            <a:avLst/>
          </a:prstGeom>
          <a:solidFill>
            <a:srgbClr val="0A0A0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F4444"/>
                </a:solidFill>
                <a:latin typeface="JetBrains Mono"/>
              </a:rPr>
              <a:t>TITAN
Strength &amp; Physical Specialist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749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Sports science, hypertrophy, recovery, nutrition.</a:t>
            </a:r>
            <a:br/>
            <a:r>
              <a:t>Handles: workout plans, biological optimization,</a:t>
            </a:r>
            <a:br/>
            <a:r>
              <a:t>vitality metrics, protein timing.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2743200" cy="1097280"/>
          </a:xfrm>
          <a:prstGeom prst="roundRect">
            <a:avLst/>
          </a:prstGeom>
          <a:solidFill>
            <a:srgbClr val="0A0A0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EAB308"/>
                </a:solidFill>
                <a:latin typeface="JetBrains Mono"/>
              </a:rPr>
              <a:t>CHRONOS
Temporal &amp; Agility Specialist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5120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Schedule optimization, flow-state entry, reaction speed.</a:t>
            </a:r>
            <a:br/>
            <a:r>
              <a:t>Handles: time management, habit timing,</a:t>
            </a:r>
            <a:br/>
            <a:r>
              <a:t>mobility routines,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Orbitron"/>
              </a:defRPr>
            </a:pPr>
            <a:r>
              <a:t>SMART ROUTING ALGORITHM  (trainerService.ts: routeToAgent)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4572000" cy="640080"/>
          </a:xfrm>
          <a:prstGeom prst="roundRect">
            <a:avLst/>
          </a:prstGeom>
          <a:solidFill>
            <a:srgbClr val="0537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JetBrains Mono"/>
              </a:rPr>
              <a:t>User Input Keywords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0" y="1005840"/>
            <a:ext cx="2286000" cy="640080"/>
          </a:xfrm>
          <a:prstGeom prst="roundRect">
            <a:avLst/>
          </a:prstGeom>
          <a:solidFill>
            <a:srgbClr val="0537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JetBrains Mono"/>
              </a:rPr>
              <a:t>Primary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005840"/>
            <a:ext cx="3657600" cy="640080"/>
          </a:xfrm>
          <a:prstGeom prst="roundRect">
            <a:avLst/>
          </a:prstGeom>
          <a:solidFill>
            <a:srgbClr val="0537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JetBrains Mono"/>
              </a:rPr>
              <a:t>Secondary Agents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4572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1D5DB"/>
                </a:solidFill>
                <a:latin typeface="JetBrains Mono"/>
              </a:rPr>
              <a:t>workout, gym, strength, muscle,
exercise, training, lift, cardio, physical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783080"/>
            <a:ext cx="2286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0B981"/>
                </a:solidFill>
                <a:latin typeface="JetBrains Mono"/>
              </a:rPr>
              <a:t>TITAN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83080"/>
            <a:ext cx="36576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B82F6"/>
                </a:solidFill>
                <a:latin typeface="JetBrains Mono"/>
              </a:rPr>
              <a:t>CHRONOS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4572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1D5DB"/>
                </a:solidFill>
                <a:latin typeface="JetBrains Mono"/>
              </a:rPr>
              <a:t>focus, learn, study, memory,
brain, intelligence, read, cognitive, mental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560320"/>
            <a:ext cx="2286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0B981"/>
                </a:solidFill>
                <a:latin typeface="JetBrains Mono"/>
              </a:rPr>
              <a:t>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560320"/>
            <a:ext cx="36576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B82F6"/>
                </a:solidFill>
                <a:latin typeface="JetBrains Mono"/>
              </a:rPr>
              <a:t>CHRONOS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37560"/>
            <a:ext cx="4572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1D5DB"/>
                </a:solidFill>
                <a:latin typeface="JetBrains Mono"/>
              </a:rPr>
              <a:t>schedule, time, routine, daily,
plan, organize, timing,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3337560"/>
            <a:ext cx="2286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0B981"/>
                </a:solidFill>
                <a:latin typeface="JetBrains Mono"/>
              </a:rPr>
              <a:t>CHRONOS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337560"/>
            <a:ext cx="36576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B82F6"/>
                </a:solidFill>
                <a:latin typeface="JetBrains Mono"/>
              </a:rPr>
              <a:t>SAGE, TITAN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4572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1D5DB"/>
                </a:solidFill>
                <a:latin typeface="JetBrains Mono"/>
              </a:rPr>
              <a:t>nutrition, diet, food, protein,
recovery, sleep,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4114800"/>
            <a:ext cx="2286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0B981"/>
                </a:solidFill>
                <a:latin typeface="JetBrains Mono"/>
              </a:rPr>
              <a:t>TITAN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114800"/>
            <a:ext cx="36576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B82F6"/>
                </a:solidFill>
                <a:latin typeface="JetBrains Mono"/>
              </a:rPr>
              <a:t>SAGE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92040"/>
            <a:ext cx="4572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1D5DB"/>
                </a:solidFill>
                <a:latin typeface="JetBrains Mono"/>
              </a:rPr>
              <a:t>motivation, emotional, stress,
confidence, fear, anxiety, willpower, discipline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4892040"/>
            <a:ext cx="2286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0B981"/>
                </a:solidFill>
                <a:latin typeface="JetBrains Mono"/>
              </a:rPr>
              <a:t>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892040"/>
            <a:ext cx="36576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B82F6"/>
                </a:solidFill>
                <a:latin typeface="JetBrains Mono"/>
              </a:rPr>
              <a:t>SAGE, TITAN, CHRONOS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69279"/>
            <a:ext cx="4572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1D5DB"/>
                </a:solidFill>
                <a:latin typeface="JetBrains Mono"/>
              </a:rPr>
              <a:t>Default (no keyword match)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5669279"/>
            <a:ext cx="22860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0B981"/>
                </a:solidFill>
                <a:latin typeface="JetBrains Mono"/>
              </a:rPr>
              <a:t>MANAGER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5669279"/>
            <a:ext cx="3657600" cy="640080"/>
          </a:xfrm>
          <a:prstGeom prst="roundRect">
            <a:avLst/>
          </a:prstGeom>
          <a:solidFill>
            <a:srgbClr val="0F12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B82F6"/>
                </a:solidFill>
                <a:latin typeface="JetBrains Mono"/>
              </a:rPr>
              <a:t>SAGE, TITAN, CHRONOS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Orbitron"/>
              </a:defRPr>
            </a:pPr>
            <a:r>
              <a:t>STATE MANAGEMENT &amp;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pace Grotesk"/>
              </a:defRPr>
            </a:pPr>
            <a:r>
              <a:t>All state lives in GameContext.tsx, persisted to localStorage on every change via useEffect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286000" cy="685800"/>
          </a:xfrm>
          <a:prstGeom prst="roundRect">
            <a:avLst/>
          </a:prstGeom>
          <a:solidFill>
            <a:srgbClr val="052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UserStats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5087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JetBrains Mono"/>
              </a:defRPr>
            </a:pPr>
            <a:r>
              <a:t>strength, intelligence, agility,</a:t>
            </a:r>
            <a:br/>
            <a:r>
              <a:t>vitality, willpower, social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508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Space Grotesk"/>
              </a:defRPr>
            </a:pPr>
            <a:r>
              <a:t>InitialAssessment sets baseline</a:t>
            </a:r>
            <a:br/>
            <a:r>
              <a:t>TrainingHub protocols increment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286000" cy="685800"/>
          </a:xfrm>
          <a:prstGeom prst="roundRect">
            <a:avLst/>
          </a:prstGeom>
          <a:solidFill>
            <a:srgbClr val="052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UserProfile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331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JetBrains Mono"/>
              </a:defRPr>
            </a:pPr>
            <a:r>
              <a:t>name, goals, barriers,</a:t>
            </a:r>
            <a:br/>
            <a:r>
              <a:t>learning style,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331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Space Grotesk"/>
              </a:defRPr>
            </a:pPr>
            <a:r>
              <a:t>Set during onboarding</a:t>
            </a:r>
            <a:br/>
            <a:r>
              <a:t>Updated via AI coach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2286000" cy="685800"/>
          </a:xfrm>
          <a:prstGeom prst="roundRect">
            <a:avLst/>
          </a:prstGeom>
          <a:solidFill>
            <a:srgbClr val="052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Quests /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1546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JetBrains Mono"/>
              </a:defRPr>
            </a:pPr>
            <a:r>
              <a:t>daily tasks + destiny quests</a:t>
            </a:r>
            <a:br/>
            <a:r>
              <a:t>with exp/stat rewards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154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Space Grotesk"/>
              </a:defRPr>
            </a:pPr>
            <a:r>
              <a:t>QuestGeneratorAgent creates</a:t>
            </a:r>
            <a:br/>
            <a:r>
              <a:t>completeQuest/completeTask adjusts stats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2286000" cy="685800"/>
          </a:xfrm>
          <a:prstGeom prst="roundRect">
            <a:avLst/>
          </a:prstGeom>
          <a:solidFill>
            <a:srgbClr val="052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AppPermissions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977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JetBrains Mono"/>
              </a:defRPr>
            </a:pPr>
            <a:r>
              <a:t>locked app list</a:t>
            </a:r>
            <a:br/>
            <a:r>
              <a:t>(Instagram, Twitter, TikTok)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977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Space Grotesk"/>
              </a:defRPr>
            </a:pPr>
            <a:r>
              <a:t>AppControlPanel toggles</a:t>
            </a:r>
            <a:br/>
            <a:r>
              <a:t>localStorage + visual commitment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54880"/>
            <a:ext cx="2286000" cy="685800"/>
          </a:xfrm>
          <a:prstGeom prst="roundRect">
            <a:avLst/>
          </a:prstGeom>
          <a:solidFill>
            <a:srgbClr val="052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ChatHistory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800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JetBrains Mono"/>
              </a:defRPr>
            </a:pPr>
            <a:r>
              <a:t>last 10 interactions</a:t>
            </a:r>
            <a:br/>
            <a:r>
              <a:t>with agent responses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800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Space Grotesk"/>
              </a:defRPr>
            </a:pPr>
            <a:r>
              <a:t>sendCommandToAgent stores</a:t>
            </a:r>
            <a:br/>
            <a:r>
              <a:t>streamCommandToAgent stores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77840"/>
            <a:ext cx="2286000" cy="685800"/>
          </a:xfrm>
          <a:prstGeom prst="roundRect">
            <a:avLst/>
          </a:prstGeom>
          <a:solidFill>
            <a:srgbClr val="0528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Protocols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623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D1D5DB"/>
                </a:solidFill>
                <a:latin typeface="JetBrains Mono"/>
              </a:defRPr>
            </a:pPr>
            <a:r>
              <a:t>training protocols</a:t>
            </a:r>
            <a:br/>
            <a:r>
              <a:t>(Neural Overclock, Hypertrophy)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623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B82F6"/>
                </a:solidFill>
                <a:latin typeface="Space Grotesk"/>
              </a:defRPr>
            </a:pPr>
            <a:r>
              <a:t>Created in TrainingHub</a:t>
            </a:r>
            <a:br/>
            <a:r>
              <a:t>addProtocol function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Orbitron"/>
              </a:defRPr>
            </a:pPr>
            <a:r>
              <a:t>COMPONENT TREE &amp;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JetBrains Mono"/>
              </a:defRPr>
            </a:pPr>
            <a:r>
              <a:t>App.tsx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└─ GameProvider (Context Wrapper)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JetBrains Mono"/>
              </a:defRPr>
            </a:pPr>
            <a:r>
              <a:t>     └─ Dashboard (hasCompletedAssessment ?)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1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├─ False → InitialAssessment.tsx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│          3-question calibration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│          Sets baseline UserStats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7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JetBrains Mono"/>
              </a:defRPr>
            </a:pPr>
            <a:r>
              <a:t>         └─ True → Dashboard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├─ Header (MenuOverlay, System Status)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├─ Main Content (tab-driven)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│   ├─ overview   → HexGraph + StatGraph + AgentActivity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│   ├─ trainer    → PersonalizedTrainer.tsx (multi-agent chat)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│   ├─ training   → TrainingHub.tsx (protocols)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│   ├─ quests     → QuestBoard.tsx (daily + destiny)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JetBrains Mono"/>
              </a:defRPr>
            </a:pPr>
            <a:r>
              <a:t>             │   ├─ agents     → AgentDashboard.tsx (orchestrator status)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│   ├─ feedback   → Feedback.tsx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│   ├─ control    → AppControlPanel.tsx (app locking)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│   └─ settings   → ApiKeySettings.tsx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├─ Floating Mic → SupremeCommander.tsx (voice overlay)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JetBrains Mono"/>
              </a:defRPr>
            </a:pPr>
            <a:r>
              <a:t>             └─ localStorage sync on every state change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Orbitron"/>
              </a:defRPr>
            </a:pPr>
            <a:r>
              <a:t>SECURITY &amp; API KEY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914400"/>
          </a:xfrm>
          <a:prstGeom prst="roundRect">
            <a:avLst/>
          </a:prstGeom>
          <a:solidFill>
            <a:srgbClr val="05325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B82F6"/>
                </a:solidFill>
                <a:latin typeface="JetBrains Mono"/>
              </a:rPr>
              <a:t>Gemini API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18872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JetBrains Mono"/>
              </a:defRPr>
            </a:pPr>
            <a:r>
              <a:t>Injected at build time via Vite define</a:t>
            </a:r>
            <a:br/>
            <a:r>
              <a:t>process.env.GEMINI_API_KEY</a:t>
            </a:r>
            <a:br/>
            <a:r>
              <a:t>Used by trainerService.ts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743200" cy="914400"/>
          </a:xfrm>
          <a:prstGeom prst="roundRect">
            <a:avLst/>
          </a:prstGeom>
          <a:solidFill>
            <a:srgbClr val="320F0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F4444"/>
                </a:solidFill>
                <a:latin typeface="JetBrains Mono"/>
              </a:rPr>
              <a:t>NVIDIA API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3774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JetBrains Mono"/>
              </a:defRPr>
            </a:pPr>
            <a:r>
              <a:t>Stored in localStorage</a:t>
            </a:r>
            <a:br/>
            <a:r>
              <a:t>Set via ApiKeySettings UI</a:t>
            </a:r>
            <a:br/>
            <a:r>
              <a:t>Read by openaiAgentService.ts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2743200" cy="914400"/>
          </a:xfrm>
          <a:prstGeom prst="roundRect">
            <a:avLst/>
          </a:prstGeom>
          <a:solidFill>
            <a:srgbClr val="1E14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5CF6"/>
                </a:solidFill>
                <a:latin typeface="JetBrains Mono"/>
              </a:rPr>
              <a:t>Discord Webhook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5661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JetBrains Mono"/>
              </a:defRPr>
            </a:pPr>
            <a:r>
              <a:t>Server-side only (server.ts)</a:t>
            </a:r>
            <a:br/>
            <a:r>
              <a:t>POST /api/community/sync</a:t>
            </a:r>
            <a:br/>
            <a:r>
              <a:t>Optional community sharing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2743200" cy="914400"/>
          </a:xfrm>
          <a:prstGeom prst="roundRect">
            <a:avLst/>
          </a:prstGeom>
          <a:solidFill>
            <a:srgbClr val="0F1E1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JetBrains Mono"/>
              </a:rPr>
              <a:t>localStorage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75488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JetBrains Mono"/>
              </a:defRPr>
            </a:pPr>
            <a:r>
              <a:t>All user data persisted locally</a:t>
            </a:r>
            <a:br/>
            <a:r>
              <a:t>No backend database</a:t>
            </a:r>
            <a:br/>
            <a:r>
              <a:t>Zero external data leakage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Orbitron"/>
              </a:defRPr>
            </a:pPr>
            <a:r>
              <a:t>PURPOSE &amp;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Orbitron"/>
              </a:defRPr>
            </a:pPr>
            <a:r>
              <a:t>CORE INTENTION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Translate extreme self-discipline into a high-engagement digital workspace.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No social features, no bloated gamification — pure analytical self-improvement.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Orbitron"/>
              </a:defRPr>
            </a:pPr>
            <a:r>
              <a:t>TARGET 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Self-optimization enthusiasts, biohackers, deep-focus practitioners,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students of strategy, and fans of calculated, narrative-driven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Orbitron"/>
              </a:defRPr>
            </a:pPr>
            <a:r>
              <a:t>DESIGN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Local-First: Your data stays on your machine. No cloud, no tracking.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Client-Side AI: Multi-agent orchestration runs entirely in your browser.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Anti-Telemetry: Zero verbose logs, zero metadata collection.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HUD Aesthetic: Dark obsidian, emerald glow, tactical scanlines 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           every pixel reinforces the 'system calibration' metaphor.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Orbitron"/>
              </a:defRPr>
            </a:pPr>
            <a:r>
              <a:t>ALGORITHMIC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Convert daily actions → stat increments → rank progression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50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hunter rank ascension (E → D → C → B → A → S → SS → SSS).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675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Each completed quest, task, or protocol directly modifies your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9951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1D5DB"/>
                </a:solidFill>
                <a:latin typeface="Space Grotesk"/>
              </a:defRPr>
            </a:pPr>
            <a:r>
              <a:t>neural evolution graph — visible proof of your self-mastery journey.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